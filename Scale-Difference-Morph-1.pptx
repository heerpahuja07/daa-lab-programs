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c5bb1f4-efdc-f44f-0d37-06ba486a71c6}">
          <p14:sldIdLst>
            <p14:sldId id="256"/>
          </p14:sldIdLst>
        </p14:section>
        <p14:section name="The idea" id="{2c4d411c-a69a-ed9b-f6d1-b1300191e5ca}">
          <p14:sldIdLst>
            <p14:sldId id="257"/>
            <p14:sldId id="258"/>
            <p14:sldId id="259"/>
            <p14:sldId id="260"/>
          </p14:sldIdLst>
        </p14:section>
        <p14:section name="In practice" id="{34326983-eeec-6de7-8820-e4eea6acaf93}">
          <p14:sldIdLst>
            <p14:sldId id="261"/>
          </p14:sldIdLst>
        </p14:section>
        <p14:section name="Takeaway" id="{baea76c5-6d29-6b8e-85dc-5f500fdd1d66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idea: two ways of doing the same small task can behave completely differently as the data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finding one contact. If you know the exact slot, it's one step. If you have to flip through the list, it depends on the list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tiny sizes the two are indistinguishable, which is why the problem hides.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task, but one approach has quietly become a thousand times more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teal bar never moves. That is what constant time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is bad. O(n) is often the simplest correct choice for small data; it just needs watching as data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single question that reveals hidden scale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54864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5303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 tiny task can hide a huge scale difference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O(1) vs O(n), explained for beginners</a:t>
            </a:r>
            <a:endParaRPr lang="en-US" sz="1800" dirty="0"/>
          </a:p>
        </p:txBody>
      </p:sp>
      <p:sp>
        <p:nvSpPr>
          <p:cNvPr id="4" name="!!dot1"/>
          <p:cNvSpPr/>
          <p:nvPr/>
        </p:nvSpPr>
        <p:spPr>
          <a:xfrm>
            <a:off x="6309360" y="82296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!!dot2"/>
          <p:cNvSpPr/>
          <p:nvPr/>
        </p:nvSpPr>
        <p:spPr>
          <a:xfrm>
            <a:off x="7223760" y="310896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Same task, two ways to do it</a:t>
            </a:r>
            <a:endParaRPr lang="en-US" sz="3200" dirty="0"/>
          </a:p>
        </p:txBody>
      </p:sp>
      <p:sp>
        <p:nvSpPr>
          <p:cNvPr id="3" name="!!lblO1"/>
          <p:cNvSpPr txBox="1"/>
          <p:nvPr/>
        </p:nvSpPr>
        <p:spPr>
          <a:xfrm>
            <a:off x="10972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Direct lookup: go straight to it</a:t>
            </a:r>
            <a:endParaRPr lang="en-US" sz="1400" dirty="0"/>
          </a:p>
        </p:txBody>
      </p:sp>
      <p:sp>
        <p:nvSpPr>
          <p:cNvPr id="4" name="!!barO1"/>
          <p:cNvSpPr/>
          <p:nvPr/>
        </p:nvSpPr>
        <p:spPr>
          <a:xfrm>
            <a:off x="10972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5" name="!!valO1"/>
          <p:cNvSpPr txBox="1"/>
          <p:nvPr/>
        </p:nvSpPr>
        <p:spPr>
          <a:xfrm>
            <a:off x="169164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step</a:t>
            </a:r>
            <a:endParaRPr lang="en-US" sz="1400" dirty="0"/>
          </a:p>
        </p:txBody>
      </p:sp>
      <p:sp>
        <p:nvSpPr>
          <p:cNvPr id="6" name="!!lblOn"/>
          <p:cNvSpPr txBox="1"/>
          <p:nvPr/>
        </p:nvSpPr>
        <p:spPr>
          <a:xfrm>
            <a:off x="10972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Scan one by one: check each item</a:t>
            </a:r>
            <a:endParaRPr lang="en-US" sz="1400" dirty="0"/>
          </a:p>
        </p:txBody>
      </p:sp>
      <p:sp>
        <p:nvSpPr>
          <p:cNvPr id="7" name="!!barOn"/>
          <p:cNvSpPr/>
          <p:nvPr/>
        </p:nvSpPr>
        <p:spPr>
          <a:xfrm>
            <a:off x="1097280" y="3246120"/>
            <a:ext cx="310896" cy="365760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8" name="cell1"/>
          <p:cNvSpPr/>
          <p:nvPr/>
        </p:nvSpPr>
        <p:spPr>
          <a:xfrm>
            <a:off x="1444752" y="3246120"/>
            <a:ext cx="310896" cy="365760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9" name="cell2"/>
          <p:cNvSpPr/>
          <p:nvPr/>
        </p:nvSpPr>
        <p:spPr>
          <a:xfrm>
            <a:off x="1792224" y="3246120"/>
            <a:ext cx="310896" cy="365760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10" name="cell3"/>
          <p:cNvSpPr/>
          <p:nvPr/>
        </p:nvSpPr>
        <p:spPr>
          <a:xfrm>
            <a:off x="2139696" y="3246120"/>
            <a:ext cx="310896" cy="365760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11" name="cell4"/>
          <p:cNvSpPr/>
          <p:nvPr/>
        </p:nvSpPr>
        <p:spPr>
          <a:xfrm>
            <a:off x="2487168" y="3246120"/>
            <a:ext cx="310896" cy="365760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12" name="cell5"/>
          <p:cNvSpPr/>
          <p:nvPr/>
        </p:nvSpPr>
        <p:spPr>
          <a:xfrm>
            <a:off x="2834640" y="3246120"/>
            <a:ext cx="310896" cy="365760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13" name="cell6"/>
          <p:cNvSpPr/>
          <p:nvPr/>
        </p:nvSpPr>
        <p:spPr>
          <a:xfrm>
            <a:off x="3182112" y="3246120"/>
            <a:ext cx="310896" cy="365760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14" name="cell7"/>
          <p:cNvSpPr/>
          <p:nvPr/>
        </p:nvSpPr>
        <p:spPr>
          <a:xfrm>
            <a:off x="3529584" y="3246120"/>
            <a:ext cx="310896" cy="365760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15" name="cell8"/>
          <p:cNvSpPr/>
          <p:nvPr/>
        </p:nvSpPr>
        <p:spPr>
          <a:xfrm>
            <a:off x="3877056" y="3246120"/>
            <a:ext cx="310896" cy="365760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16" name="cell9"/>
          <p:cNvSpPr/>
          <p:nvPr/>
        </p:nvSpPr>
        <p:spPr>
          <a:xfrm>
            <a:off x="4224528" y="3246120"/>
            <a:ext cx="310896" cy="365760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</p:sp>
      <p:sp>
        <p:nvSpPr>
          <p:cNvPr id="17" name="!!valOn"/>
          <p:cNvSpPr txBox="1"/>
          <p:nvPr/>
        </p:nvSpPr>
        <p:spPr>
          <a:xfrm>
            <a:off x="109728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up to n steps</a:t>
            </a:r>
            <a:endParaRPr lang="en-US" sz="1400" dirty="0"/>
          </a:p>
        </p:txBody>
      </p:sp>
      <p:sp>
        <p:nvSpPr>
          <p:cNvPr id="18" name="!!note"/>
          <p:cNvSpPr txBox="1"/>
          <p:nvPr/>
        </p:nvSpPr>
        <p:spPr>
          <a:xfrm>
            <a:off x="5120640" y="15544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Direct lookup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You know exactly where the item is. One step, however big the list. That's O(1).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Scan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You check items one at a time until you find it. The work grows with the list. That's O(n).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happens as data grows</a:t>
            </a:r>
            <a:endParaRPr lang="en-US" sz="3200" dirty="0"/>
          </a:p>
        </p:txBody>
      </p:sp>
      <p:sp>
        <p:nvSpPr>
          <p:cNvPr id="3" name="!!lblO1"/>
          <p:cNvSpPr txBox="1"/>
          <p:nvPr/>
        </p:nvSpPr>
        <p:spPr>
          <a:xfrm>
            <a:off x="1097280" y="4526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O(1)</a:t>
            </a:r>
            <a:endParaRPr lang="en-US" sz="1800" dirty="0"/>
          </a:p>
        </p:txBody>
      </p:sp>
      <p:sp>
        <p:nvSpPr>
          <p:cNvPr id="4" name="!!lblOn"/>
          <p:cNvSpPr txBox="1"/>
          <p:nvPr/>
        </p:nvSpPr>
        <p:spPr>
          <a:xfrm>
            <a:off x="3108960" y="4526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O(n)</a:t>
            </a:r>
            <a:endParaRPr lang="en-US" sz="1800" dirty="0"/>
          </a:p>
        </p:txBody>
      </p:sp>
      <p:sp>
        <p:nvSpPr>
          <p:cNvPr id="5" name="!!barO1"/>
          <p:cNvSpPr/>
          <p:nvPr/>
        </p:nvSpPr>
        <p:spPr>
          <a:xfrm>
            <a:off x="1097280" y="4206240"/>
            <a:ext cx="146304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6" name="!!barOn"/>
          <p:cNvSpPr/>
          <p:nvPr/>
        </p:nvSpPr>
        <p:spPr>
          <a:xfrm>
            <a:off x="3108960" y="4206240"/>
            <a:ext cx="1463040" cy="27432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</p:sp>
      <p:sp>
        <p:nvSpPr>
          <p:cNvPr id="7" name="!!valO1"/>
          <p:cNvSpPr txBox="1"/>
          <p:nvPr/>
        </p:nvSpPr>
        <p:spPr>
          <a:xfrm>
            <a:off x="1005840" y="3822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step</a:t>
            </a:r>
            <a:endParaRPr lang="en-US" sz="1400" dirty="0"/>
          </a:p>
        </p:txBody>
      </p:sp>
      <p:sp>
        <p:nvSpPr>
          <p:cNvPr id="8" name="!!valOn"/>
          <p:cNvSpPr txBox="1"/>
          <p:nvPr/>
        </p:nvSpPr>
        <p:spPr>
          <a:xfrm>
            <a:off x="3017520" y="3822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10 steps</a:t>
            </a:r>
            <a:endParaRPr lang="en-US" sz="1400" dirty="0"/>
          </a:p>
        </p:txBody>
      </p:sp>
      <p:sp>
        <p:nvSpPr>
          <p:cNvPr id="9" name="!!nBig"/>
          <p:cNvSpPr txBox="1"/>
          <p:nvPr/>
        </p:nvSpPr>
        <p:spPr>
          <a:xfrm>
            <a:off x="512064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10</a:t>
            </a:r>
            <a:endParaRPr lang="en-US" sz="3200" dirty="0"/>
          </a:p>
        </p:txBody>
      </p:sp>
      <p:sp>
        <p:nvSpPr>
          <p:cNvPr id="10" name="!!note"/>
          <p:cNvSpPr txBox="1"/>
          <p:nvPr/>
        </p:nvSpPr>
        <p:spPr>
          <a:xfrm>
            <a:off x="5120640" y="22860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With only 10 items both approaches cost about the same. At this size you would never notice a difference.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happens as data grows</a:t>
            </a:r>
            <a:endParaRPr lang="en-US" sz="3200" dirty="0"/>
          </a:p>
        </p:txBody>
      </p:sp>
      <p:sp>
        <p:nvSpPr>
          <p:cNvPr id="3" name="!!lblO1"/>
          <p:cNvSpPr txBox="1"/>
          <p:nvPr/>
        </p:nvSpPr>
        <p:spPr>
          <a:xfrm>
            <a:off x="1097280" y="4526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O(1)</a:t>
            </a:r>
            <a:endParaRPr lang="en-US" sz="1800" dirty="0"/>
          </a:p>
        </p:txBody>
      </p:sp>
      <p:sp>
        <p:nvSpPr>
          <p:cNvPr id="4" name="!!lblOn"/>
          <p:cNvSpPr txBox="1"/>
          <p:nvPr/>
        </p:nvSpPr>
        <p:spPr>
          <a:xfrm>
            <a:off x="3108960" y="4526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O(n)</a:t>
            </a:r>
            <a:endParaRPr lang="en-US" sz="1800" dirty="0"/>
          </a:p>
        </p:txBody>
      </p:sp>
      <p:sp>
        <p:nvSpPr>
          <p:cNvPr id="5" name="!!barO1"/>
          <p:cNvSpPr/>
          <p:nvPr/>
        </p:nvSpPr>
        <p:spPr>
          <a:xfrm>
            <a:off x="1097280" y="4206240"/>
            <a:ext cx="146304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6" name="!!barOn"/>
          <p:cNvSpPr/>
          <p:nvPr/>
        </p:nvSpPr>
        <p:spPr>
          <a:xfrm>
            <a:off x="3108960" y="3108960"/>
            <a:ext cx="146304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/>
        </p:spPr>
      </p:sp>
      <p:sp>
        <p:nvSpPr>
          <p:cNvPr id="7" name="!!valO1"/>
          <p:cNvSpPr txBox="1"/>
          <p:nvPr/>
        </p:nvSpPr>
        <p:spPr>
          <a:xfrm>
            <a:off x="1005840" y="3822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step</a:t>
            </a:r>
            <a:endParaRPr lang="en-US" sz="1400" dirty="0"/>
          </a:p>
        </p:txBody>
      </p:sp>
      <p:sp>
        <p:nvSpPr>
          <p:cNvPr id="8" name="!!valOn"/>
          <p:cNvSpPr txBox="1"/>
          <p:nvPr/>
        </p:nvSpPr>
        <p:spPr>
          <a:xfrm>
            <a:off x="3017520" y="2724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1,000 steps</a:t>
            </a:r>
            <a:endParaRPr lang="en-US" sz="1400" dirty="0"/>
          </a:p>
        </p:txBody>
      </p:sp>
      <p:sp>
        <p:nvSpPr>
          <p:cNvPr id="9" name="!!nBig"/>
          <p:cNvSpPr txBox="1"/>
          <p:nvPr/>
        </p:nvSpPr>
        <p:spPr>
          <a:xfrm>
            <a:off x="512064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1,000</a:t>
            </a:r>
            <a:endParaRPr lang="en-US" sz="3200" dirty="0"/>
          </a:p>
        </p:txBody>
      </p:sp>
      <p:sp>
        <p:nvSpPr>
          <p:cNvPr id="10" name="!!note"/>
          <p:cNvSpPr txBox="1"/>
          <p:nvPr/>
        </p:nvSpPr>
        <p:spPr>
          <a:xfrm>
            <a:off x="5120640" y="22860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Direct lookup still takes 1 step. Scanning now takes up to 1,000, and the gap is already 1,000 times.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happens as data grows</a:t>
            </a:r>
            <a:endParaRPr lang="en-US" sz="3200" dirty="0"/>
          </a:p>
        </p:txBody>
      </p:sp>
      <p:sp>
        <p:nvSpPr>
          <p:cNvPr id="3" name="!!lblO1"/>
          <p:cNvSpPr txBox="1"/>
          <p:nvPr/>
        </p:nvSpPr>
        <p:spPr>
          <a:xfrm>
            <a:off x="1097280" y="4526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O(1)</a:t>
            </a:r>
            <a:endParaRPr lang="en-US" sz="1800" dirty="0"/>
          </a:p>
        </p:txBody>
      </p:sp>
      <p:sp>
        <p:nvSpPr>
          <p:cNvPr id="4" name="!!lblOn"/>
          <p:cNvSpPr txBox="1"/>
          <p:nvPr/>
        </p:nvSpPr>
        <p:spPr>
          <a:xfrm>
            <a:off x="3108960" y="4526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O(n)</a:t>
            </a:r>
            <a:endParaRPr lang="en-US" sz="1800" dirty="0"/>
          </a:p>
        </p:txBody>
      </p:sp>
      <p:sp>
        <p:nvSpPr>
          <p:cNvPr id="5" name="!!barO1"/>
          <p:cNvSpPr/>
          <p:nvPr/>
        </p:nvSpPr>
        <p:spPr>
          <a:xfrm>
            <a:off x="1097280" y="4206240"/>
            <a:ext cx="1463040" cy="2743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6" name="!!barOn"/>
          <p:cNvSpPr/>
          <p:nvPr/>
        </p:nvSpPr>
        <p:spPr>
          <a:xfrm>
            <a:off x="3108960" y="1920240"/>
            <a:ext cx="1463040" cy="256032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7" name="!!valO1"/>
          <p:cNvSpPr txBox="1"/>
          <p:nvPr/>
        </p:nvSpPr>
        <p:spPr>
          <a:xfrm>
            <a:off x="1005840" y="3822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step</a:t>
            </a:r>
            <a:endParaRPr lang="en-US" sz="1400" dirty="0"/>
          </a:p>
        </p:txBody>
      </p:sp>
      <p:sp>
        <p:nvSpPr>
          <p:cNvPr id="8" name="!!valOn"/>
          <p:cNvSpPr txBox="1"/>
          <p:nvPr/>
        </p:nvSpPr>
        <p:spPr>
          <a:xfrm>
            <a:off x="3017520" y="1536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1,000,000 steps</a:t>
            </a:r>
            <a:endParaRPr lang="en-US" sz="1400" dirty="0"/>
          </a:p>
        </p:txBody>
      </p:sp>
      <p:sp>
        <p:nvSpPr>
          <p:cNvPr id="9" name="!!nBig"/>
          <p:cNvSpPr txBox="1"/>
          <p:nvPr/>
        </p:nvSpPr>
        <p:spPr>
          <a:xfrm>
            <a:off x="5120640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1,000,000</a:t>
            </a:r>
            <a:endParaRPr lang="en-US" sz="3200" dirty="0"/>
          </a:p>
        </p:txBody>
      </p:sp>
      <p:sp>
        <p:nvSpPr>
          <p:cNvPr id="10" name="!!note"/>
          <p:cNvSpPr txBox="1"/>
          <p:nvPr/>
        </p:nvSpPr>
        <p:spPr>
          <a:xfrm>
            <a:off x="5120640" y="22860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million items: scanning is up to a million steps while the O(1) bar hasn't moved. Bars are compressed, the real gap is 1,000,000 times.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When each one makes sense</a:t>
            </a:r>
            <a:endParaRPr lang="en-US" sz="3200" dirty="0"/>
          </a:p>
        </p:txBody>
      </p:sp>
      <p:sp>
        <p:nvSpPr>
          <p:cNvPr id="3" name="!!barO1"/>
          <p:cNvSpPr/>
          <p:nvPr/>
        </p:nvSpPr>
        <p:spPr>
          <a:xfrm>
            <a:off x="548640" y="1371600"/>
            <a:ext cx="3840480" cy="320040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/>
        </p:spPr>
      </p:sp>
      <p:sp>
        <p:nvSpPr>
          <p:cNvPr id="4" name="!!barOn"/>
          <p:cNvSpPr/>
          <p:nvPr/>
        </p:nvSpPr>
        <p:spPr>
          <a:xfrm>
            <a:off x="4754880" y="1371600"/>
            <a:ext cx="3840480" cy="3200400"/>
          </a:xfrm>
          <a:prstGeom prst="roundRect">
            <a:avLst>
              <a:gd name="adj" fmla="val 4286"/>
            </a:avLst>
          </a:prstGeom>
          <a:solidFill>
            <a:schemeClr val="accent2"/>
          </a:solidFill>
          <a:ln/>
        </p:spPr>
      </p:sp>
      <p:sp>
        <p:nvSpPr>
          <p:cNvPr id="5" name="!!lblO1"/>
          <p:cNvSpPr txBox="1"/>
          <p:nvPr/>
        </p:nvSpPr>
        <p:spPr>
          <a:xfrm>
            <a:off x="82296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O(1): constant time</a:t>
            </a:r>
            <a:endParaRPr lang="en-US" sz="2000" dirty="0"/>
          </a:p>
        </p:txBody>
      </p:sp>
      <p:sp>
        <p:nvSpPr>
          <p:cNvPr id="6" name="!!lblOn"/>
          <p:cNvSpPr txBox="1"/>
          <p:nvPr/>
        </p:nvSpPr>
        <p:spPr>
          <a:xfrm>
            <a:off x="502920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O(n): linear time</a:t>
            </a:r>
            <a:endParaRPr lang="en-US" sz="2000" dirty="0"/>
          </a:p>
        </p:txBody>
      </p:sp>
      <p:sp>
        <p:nvSpPr>
          <p:cNvPr id="7" name="!!valO1"/>
          <p:cNvSpPr txBox="1"/>
          <p:nvPr/>
        </p:nvSpPr>
        <p:spPr>
          <a:xfrm>
            <a:off x="822960" y="21945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Look up by key or index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Grab the first or last item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Push onto a stack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 when speed must not depend on data size</a:t>
            </a:r>
            <a:endParaRPr lang="en-US" sz="1500" dirty="0"/>
          </a:p>
        </p:txBody>
      </p:sp>
      <p:sp>
        <p:nvSpPr>
          <p:cNvPr id="8" name="!!valOn"/>
          <p:cNvSpPr txBox="1"/>
          <p:nvPr/>
        </p:nvSpPr>
        <p:spPr>
          <a:xfrm>
            <a:off x="5029200" y="21945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Search an unsorted list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Count or sum every item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Perfectly fine for small or one-off jobs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Watch it as the data keeps growing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Judge a task by how its work grows, not by how small it looks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Before choosing an approach, ask: what happens when the data gets 1,000 times bigger?</a:t>
            </a:r>
            <a:endParaRPr lang="en-US" sz="1800" dirty="0"/>
          </a:p>
        </p:txBody>
      </p:sp>
      <p:sp>
        <p:nvSpPr>
          <p:cNvPr id="4" name="!!dot1"/>
          <p:cNvSpPr/>
          <p:nvPr/>
        </p:nvSpPr>
        <p:spPr>
          <a:xfrm>
            <a:off x="6675120" y="82296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!!dot2"/>
          <p:cNvSpPr/>
          <p:nvPr/>
        </p:nvSpPr>
        <p:spPr>
          <a:xfrm>
            <a:off x="6309360" y="2194560"/>
            <a:ext cx="2377440" cy="237744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cale Contrast">
  <a:themeElements>
    <a:clrScheme name="Scale Contrast">
      <a:dk1>
        <a:srgbClr val="0B1D2A"/>
      </a:dk1>
      <a:lt1>
        <a:srgbClr val="FFFFFF"/>
      </a:lt1>
      <a:dk2>
        <a:srgbClr val="12303F"/>
      </a:dk2>
      <a:lt2>
        <a:srgbClr val="DCEBEE"/>
      </a:lt2>
      <a:accent1>
        <a:srgbClr val="2EC4B6"/>
      </a:accent1>
      <a:accent2>
        <a:srgbClr val="F2B134"/>
      </a:accent2>
      <a:accent3>
        <a:srgbClr val="8FA3AD"/>
      </a:accent3>
      <a:accent4>
        <a:srgbClr val="FF6B5B"/>
      </a:accent4>
      <a:accent5>
        <a:srgbClr val="5B8DEF"/>
      </a:accent5>
      <a:accent6>
        <a:srgbClr val="A78BFA"/>
      </a:accent6>
      <a:hlink>
        <a:srgbClr val="2EC4B6"/>
      </a:hlink>
      <a:folHlink>
        <a:srgbClr val="8FA3AD"/>
      </a:folHlink>
    </a:clrScheme>
    <a:fontScheme name="Scale Contra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tiny task can hide a huge scale difference</dc:title>
  <dc:subject>PptxGenJS Presentation</dc:subject>
  <dc:creator>PptxGenJS</dc:creator>
  <cp:lastModifiedBy>PptxGenJS</cp:lastModifiedBy>
  <cp:revision>1</cp:revision>
  <dcterms:created xsi:type="dcterms:W3CDTF">2026-10-19T08:22:35Z</dcterms:created>
  <dcterms:modified xsi:type="dcterms:W3CDTF">2026-10-19T08:22:35Z</dcterms:modified>
</cp:coreProperties>
</file>